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57" r:id="rId3"/>
    <p:sldId id="263" r:id="rId4"/>
    <p:sldId id="264" r:id="rId5"/>
    <p:sldId id="265" r:id="rId6"/>
    <p:sldId id="266" r:id="rId7"/>
    <p:sldId id="26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87" d="100"/>
          <a:sy n="87" d="100"/>
        </p:scale>
        <p:origin x="52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E43DC3DA-186F-468D-AC07-9119BD32D511}" type="datetimeFigureOut">
              <a:rPr lang="en-GB" smtClean="0"/>
              <a:t>02/10/2026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D82113-1EB0-4301-AB2B-E91726276355}" type="slidenum">
              <a:rPr lang="en-GB" smtClean="0"/>
              <a:t>‹#›</a:t>
            </a:fld>
            <a:endParaRPr lang="en-GB"/>
          </a:p>
        </p:txBody>
      </p:sp>
    </p:spTree>
    <p:extLst>
      <p:ext uri="{BB962C8B-B14F-4D97-AF65-F5344CB8AC3E}">
        <p14:creationId xmlns:p14="http://schemas.microsoft.com/office/powerpoint/2010/main" val="2056282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43DC3DA-186F-468D-AC07-9119BD32D511}" type="datetimeFigureOut">
              <a:rPr lang="en-GB" smtClean="0"/>
              <a:t>02/10/2026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D82113-1EB0-4301-AB2B-E91726276355}" type="slidenum">
              <a:rPr lang="en-GB" smtClean="0"/>
              <a:t>‹#›</a:t>
            </a:fld>
            <a:endParaRPr lang="en-GB"/>
          </a:p>
        </p:txBody>
      </p:sp>
    </p:spTree>
    <p:extLst>
      <p:ext uri="{BB962C8B-B14F-4D97-AF65-F5344CB8AC3E}">
        <p14:creationId xmlns:p14="http://schemas.microsoft.com/office/powerpoint/2010/main" val="19277354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43DC3DA-186F-468D-AC07-9119BD32D511}" type="datetimeFigureOut">
              <a:rPr lang="en-GB" smtClean="0"/>
              <a:t>02/10/2026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D82113-1EB0-4301-AB2B-E91726276355}" type="slidenum">
              <a:rPr lang="en-GB" smtClean="0"/>
              <a:t>‹#›</a:t>
            </a:fld>
            <a:endParaRPr lang="en-GB"/>
          </a:p>
        </p:txBody>
      </p:sp>
    </p:spTree>
    <p:extLst>
      <p:ext uri="{BB962C8B-B14F-4D97-AF65-F5344CB8AC3E}">
        <p14:creationId xmlns:p14="http://schemas.microsoft.com/office/powerpoint/2010/main" val="7769163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E43DC3DA-186F-468D-AC07-9119BD32D511}" type="datetimeFigureOut">
              <a:rPr lang="en-GB" smtClean="0"/>
              <a:t>02/10/2026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FD82113-1EB0-4301-AB2B-E91726276355}" type="slidenum">
              <a:rPr lang="en-GB" smtClean="0"/>
              <a:t>‹#›</a:t>
            </a:fld>
            <a:endParaRPr lang="en-GB"/>
          </a:p>
        </p:txBody>
      </p:sp>
    </p:spTree>
    <p:extLst>
      <p:ext uri="{BB962C8B-B14F-4D97-AF65-F5344CB8AC3E}">
        <p14:creationId xmlns:p14="http://schemas.microsoft.com/office/powerpoint/2010/main" val="3752929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E43DC3DA-186F-468D-AC07-9119BD32D511}" type="datetimeFigureOut">
              <a:rPr lang="en-GB" smtClean="0"/>
              <a:t>02/10/2026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FD82113-1EB0-4301-AB2B-E91726276355}" type="slidenum">
              <a:rPr lang="en-GB" smtClean="0"/>
              <a:t>‹#›</a:t>
            </a:fld>
            <a:endParaRPr lang="en-GB"/>
          </a:p>
        </p:txBody>
      </p:sp>
    </p:spTree>
    <p:extLst>
      <p:ext uri="{BB962C8B-B14F-4D97-AF65-F5344CB8AC3E}">
        <p14:creationId xmlns:p14="http://schemas.microsoft.com/office/powerpoint/2010/main" val="961669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E43DC3DA-186F-468D-AC07-9119BD32D511}" type="datetimeFigureOut">
              <a:rPr lang="en-GB" smtClean="0"/>
              <a:t>02/10/2026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FD82113-1EB0-4301-AB2B-E91726276355}" type="slidenum">
              <a:rPr lang="en-GB" smtClean="0"/>
              <a:t>‹#›</a:t>
            </a:fld>
            <a:endParaRPr lang="en-GB"/>
          </a:p>
        </p:txBody>
      </p:sp>
    </p:spTree>
    <p:extLst>
      <p:ext uri="{BB962C8B-B14F-4D97-AF65-F5344CB8AC3E}">
        <p14:creationId xmlns:p14="http://schemas.microsoft.com/office/powerpoint/2010/main" val="4977743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3DC3DA-186F-468D-AC07-9119BD32D511}" type="datetimeFigureOut">
              <a:rPr lang="en-GB" smtClean="0"/>
              <a:t>02/10/2026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FD82113-1EB0-4301-AB2B-E91726276355}" type="slidenum">
              <a:rPr lang="en-GB" smtClean="0"/>
              <a:t>‹#›</a:t>
            </a:fld>
            <a:endParaRPr lang="en-GB"/>
          </a:p>
        </p:txBody>
      </p:sp>
    </p:spTree>
    <p:extLst>
      <p:ext uri="{BB962C8B-B14F-4D97-AF65-F5344CB8AC3E}">
        <p14:creationId xmlns:p14="http://schemas.microsoft.com/office/powerpoint/2010/main" val="136056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43DC3DA-186F-468D-AC07-9119BD32D511}" type="datetimeFigureOut">
              <a:rPr lang="en-GB" smtClean="0"/>
              <a:t>02/10/2026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FD82113-1EB0-4301-AB2B-E91726276355}" type="slidenum">
              <a:rPr lang="en-GB" smtClean="0"/>
              <a:t>‹#›</a:t>
            </a:fld>
            <a:endParaRPr lang="en-GB"/>
          </a:p>
        </p:txBody>
      </p:sp>
    </p:spTree>
    <p:extLst>
      <p:ext uri="{BB962C8B-B14F-4D97-AF65-F5344CB8AC3E}">
        <p14:creationId xmlns:p14="http://schemas.microsoft.com/office/powerpoint/2010/main" val="109900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43DC3DA-186F-468D-AC07-9119BD32D511}" type="datetimeFigureOut">
              <a:rPr lang="en-GB" smtClean="0"/>
              <a:t>02/10/2026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FD82113-1EB0-4301-AB2B-E91726276355}" type="slidenum">
              <a:rPr lang="en-GB" smtClean="0"/>
              <a:t>‹#›</a:t>
            </a:fld>
            <a:endParaRPr lang="en-GB"/>
          </a:p>
        </p:txBody>
      </p:sp>
    </p:spTree>
    <p:extLst>
      <p:ext uri="{BB962C8B-B14F-4D97-AF65-F5344CB8AC3E}">
        <p14:creationId xmlns:p14="http://schemas.microsoft.com/office/powerpoint/2010/main" val="791513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43DC3DA-186F-468D-AC07-9119BD32D511}" type="datetimeFigureOut">
              <a:rPr lang="en-GB" smtClean="0"/>
              <a:t>02/10/2026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D82113-1EB0-4301-AB2B-E91726276355}" type="slidenum">
              <a:rPr lang="en-GB" smtClean="0"/>
              <a:t>‹#›</a:t>
            </a:fld>
            <a:endParaRPr lang="en-GB"/>
          </a:p>
        </p:txBody>
      </p:sp>
    </p:spTree>
    <p:extLst>
      <p:ext uri="{BB962C8B-B14F-4D97-AF65-F5344CB8AC3E}">
        <p14:creationId xmlns:p14="http://schemas.microsoft.com/office/powerpoint/2010/main" val="1130225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43DC3DA-186F-468D-AC07-9119BD32D511}" type="datetimeFigureOut">
              <a:rPr lang="en-GB" smtClean="0"/>
              <a:t>02/10/2026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D82113-1EB0-4301-AB2B-E91726276355}" type="slidenum">
              <a:rPr lang="en-GB" smtClean="0"/>
              <a:t>‹#›</a:t>
            </a:fld>
            <a:endParaRPr lang="en-GB"/>
          </a:p>
        </p:txBody>
      </p:sp>
    </p:spTree>
    <p:extLst>
      <p:ext uri="{BB962C8B-B14F-4D97-AF65-F5344CB8AC3E}">
        <p14:creationId xmlns:p14="http://schemas.microsoft.com/office/powerpoint/2010/main" val="22155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3DC3DA-186F-468D-AC07-9119BD32D511}" type="datetimeFigureOut">
              <a:rPr lang="en-GB" smtClean="0"/>
              <a:t>02/10/2026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D82113-1EB0-4301-AB2B-E91726276355}" type="slidenum">
              <a:rPr lang="en-GB" smtClean="0"/>
              <a:t>‹#›</a:t>
            </a:fld>
            <a:endParaRPr lang="en-GB"/>
          </a:p>
        </p:txBody>
      </p:sp>
    </p:spTree>
    <p:extLst>
      <p:ext uri="{BB962C8B-B14F-4D97-AF65-F5344CB8AC3E}">
        <p14:creationId xmlns:p14="http://schemas.microsoft.com/office/powerpoint/2010/main" val="29335756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546" y="0"/>
            <a:ext cx="12253546" cy="6612367"/>
          </a:xfrm>
          <a:prstGeom prst="rect">
            <a:avLst/>
          </a:prstGeom>
        </p:spPr>
      </p:pic>
      <p:sp>
        <p:nvSpPr>
          <p:cNvPr id="3" name="TextBox 2"/>
          <p:cNvSpPr txBox="1"/>
          <p:nvPr/>
        </p:nvSpPr>
        <p:spPr>
          <a:xfrm>
            <a:off x="6699738" y="1415562"/>
            <a:ext cx="5310554" cy="3416320"/>
          </a:xfrm>
          <a:prstGeom prst="rect">
            <a:avLst/>
          </a:prstGeom>
          <a:noFill/>
        </p:spPr>
        <p:txBody>
          <a:bodyPr wrap="square" rtlCol="0">
            <a:spAutoFit/>
          </a:bodyPr>
          <a:lstStyle/>
          <a:p>
            <a:r>
              <a:rPr lang="en-GB" sz="3600" dirty="0" smtClean="0">
                <a:solidFill>
                  <a:schemeClr val="bg1"/>
                </a:solidFill>
              </a:rPr>
              <a:t>CUSTOMER CHURN AND REVENUE LOSS DESCRIPTIVE ANALYSIS </a:t>
            </a:r>
          </a:p>
          <a:p>
            <a:r>
              <a:rPr lang="en-GB" sz="3600" dirty="0" smtClean="0">
                <a:solidFill>
                  <a:schemeClr val="bg1"/>
                </a:solidFill>
              </a:rPr>
              <a:t>BY </a:t>
            </a:r>
          </a:p>
          <a:p>
            <a:r>
              <a:rPr lang="en-GB" sz="3600" dirty="0" smtClean="0">
                <a:solidFill>
                  <a:schemeClr val="bg1"/>
                </a:solidFill>
              </a:rPr>
              <a:t>RACHAEL</a:t>
            </a:r>
          </a:p>
          <a:p>
            <a:r>
              <a:rPr lang="en-GB" sz="3600" dirty="0" smtClean="0">
                <a:solidFill>
                  <a:schemeClr val="bg1"/>
                </a:solidFill>
              </a:rPr>
              <a:t>JOB TITLE: Data Analyst</a:t>
            </a:r>
            <a:endParaRPr lang="en-GB" sz="3600" dirty="0">
              <a:solidFill>
                <a:schemeClr val="bg1"/>
              </a:solidFill>
            </a:endParaRPr>
          </a:p>
        </p:txBody>
      </p:sp>
    </p:spTree>
    <p:extLst>
      <p:ext uri="{BB962C8B-B14F-4D97-AF65-F5344CB8AC3E}">
        <p14:creationId xmlns:p14="http://schemas.microsoft.com/office/powerpoint/2010/main" val="351826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7393" y="272561"/>
            <a:ext cx="11069516" cy="646331"/>
          </a:xfrm>
          <a:prstGeom prst="rect">
            <a:avLst/>
          </a:prstGeom>
          <a:noFill/>
        </p:spPr>
        <p:txBody>
          <a:bodyPr wrap="square" rtlCol="0">
            <a:spAutoFit/>
          </a:bodyPr>
          <a:lstStyle/>
          <a:p>
            <a:r>
              <a:rPr lang="en-GB" dirty="0" smtClean="0">
                <a:solidFill>
                  <a:schemeClr val="bg1"/>
                </a:solidFill>
              </a:rPr>
              <a:t>Executive Summary</a:t>
            </a:r>
          </a:p>
          <a:p>
            <a:endParaRPr lang="en-GB" dirty="0">
              <a:solidFill>
                <a:schemeClr val="bg1"/>
              </a:solidFill>
            </a:endParaRPr>
          </a:p>
        </p:txBody>
      </p:sp>
      <p:sp>
        <p:nvSpPr>
          <p:cNvPr id="3" name="TextBox 2"/>
          <p:cNvSpPr txBox="1"/>
          <p:nvPr/>
        </p:nvSpPr>
        <p:spPr>
          <a:xfrm>
            <a:off x="2299190" y="1608992"/>
            <a:ext cx="6945922" cy="1569660"/>
          </a:xfrm>
          <a:prstGeom prst="rect">
            <a:avLst/>
          </a:prstGeom>
          <a:solidFill>
            <a:schemeClr val="bg1"/>
          </a:solidFill>
          <a:ln>
            <a:solidFill>
              <a:schemeClr val="tx1"/>
            </a:solidFill>
          </a:ln>
        </p:spPr>
        <p:txBody>
          <a:bodyPr wrap="square" rtlCol="0">
            <a:spAutoFit/>
          </a:bodyPr>
          <a:lstStyle/>
          <a:p>
            <a:r>
              <a:rPr lang="en-GB" sz="2400" dirty="0" smtClean="0">
                <a:latin typeface="Cambria" panose="02040503050406030204" pitchFamily="18" charset="0"/>
                <a:ea typeface="Cambria" panose="02040503050406030204" pitchFamily="18" charset="0"/>
              </a:rPr>
              <a:t>Business Objectives: The aim of the data analysis is conduct a descriptive analysis on customer churn, revenue generation and loss of a fictional retail store</a:t>
            </a:r>
            <a:endParaRPr lang="en-GB" sz="2400" dirty="0">
              <a:latin typeface="Cambria" panose="02040503050406030204" pitchFamily="18" charset="0"/>
              <a:ea typeface="Cambria" panose="02040503050406030204" pitchFamily="18" charset="0"/>
            </a:endParaRPr>
          </a:p>
        </p:txBody>
      </p:sp>
      <p:sp>
        <p:nvSpPr>
          <p:cNvPr id="4" name="Rectangle 3"/>
          <p:cNvSpPr/>
          <p:nvPr/>
        </p:nvSpPr>
        <p:spPr>
          <a:xfrm>
            <a:off x="0" y="0"/>
            <a:ext cx="12010292" cy="66821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694592" y="211015"/>
            <a:ext cx="3217985" cy="369332"/>
          </a:xfrm>
          <a:prstGeom prst="rect">
            <a:avLst/>
          </a:prstGeom>
          <a:noFill/>
        </p:spPr>
        <p:txBody>
          <a:bodyPr wrap="square" rtlCol="0">
            <a:spAutoFit/>
          </a:bodyPr>
          <a:lstStyle/>
          <a:p>
            <a:r>
              <a:rPr lang="en-GB" dirty="0" smtClean="0">
                <a:solidFill>
                  <a:schemeClr val="bg1"/>
                </a:solidFill>
              </a:rPr>
              <a:t>EXECUTIVE SUMMARY</a:t>
            </a:r>
            <a:endParaRPr lang="en-GB" dirty="0">
              <a:solidFill>
                <a:schemeClr val="bg1"/>
              </a:solidFill>
            </a:endParaRPr>
          </a:p>
        </p:txBody>
      </p:sp>
    </p:spTree>
    <p:extLst>
      <p:ext uri="{BB962C8B-B14F-4D97-AF65-F5344CB8AC3E}">
        <p14:creationId xmlns:p14="http://schemas.microsoft.com/office/powerpoint/2010/main" val="1991733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7393" y="272561"/>
            <a:ext cx="11069516" cy="646331"/>
          </a:xfrm>
          <a:prstGeom prst="rect">
            <a:avLst/>
          </a:prstGeom>
          <a:noFill/>
        </p:spPr>
        <p:txBody>
          <a:bodyPr wrap="square" rtlCol="0">
            <a:spAutoFit/>
          </a:bodyPr>
          <a:lstStyle/>
          <a:p>
            <a:r>
              <a:rPr lang="en-GB" dirty="0" smtClean="0">
                <a:solidFill>
                  <a:schemeClr val="bg1"/>
                </a:solidFill>
              </a:rPr>
              <a:t>Executive Summary</a:t>
            </a:r>
          </a:p>
          <a:p>
            <a:endParaRPr lang="en-GB" dirty="0">
              <a:solidFill>
                <a:schemeClr val="bg1"/>
              </a:solidFill>
            </a:endParaRPr>
          </a:p>
        </p:txBody>
      </p:sp>
      <p:sp>
        <p:nvSpPr>
          <p:cNvPr id="3" name="TextBox 2"/>
          <p:cNvSpPr txBox="1"/>
          <p:nvPr/>
        </p:nvSpPr>
        <p:spPr>
          <a:xfrm>
            <a:off x="2303584" y="1191453"/>
            <a:ext cx="6945922" cy="4893647"/>
          </a:xfrm>
          <a:prstGeom prst="rect">
            <a:avLst/>
          </a:prstGeom>
          <a:solidFill>
            <a:schemeClr val="bg1"/>
          </a:solidFill>
          <a:ln>
            <a:solidFill>
              <a:schemeClr val="tx1"/>
            </a:solidFill>
          </a:ln>
        </p:spPr>
        <p:txBody>
          <a:bodyPr wrap="square" rtlCol="0">
            <a:spAutoFit/>
          </a:bodyPr>
          <a:lstStyle/>
          <a:p>
            <a:r>
              <a:rPr lang="en-GB" sz="2400" smtClean="0">
                <a:latin typeface="Cambria" panose="02040503050406030204" pitchFamily="18" charset="0"/>
                <a:ea typeface="Cambria" panose="02040503050406030204" pitchFamily="18" charset="0"/>
              </a:rPr>
              <a:t>Data source: The datasets were sourced from Kaggle </a:t>
            </a:r>
            <a:r>
              <a:rPr lang="en-US" sz="2400" smtClean="0">
                <a:latin typeface="Cambria" panose="02040503050406030204" pitchFamily="18" charset="0"/>
                <a:ea typeface="Cambria" panose="02040503050406030204" pitchFamily="18" charset="0"/>
              </a:rPr>
              <a:t>Customer Behavior &amp; Churn Prediction Dataset V2.</a:t>
            </a:r>
          </a:p>
          <a:p>
            <a:r>
              <a:rPr lang="en-GB" sz="2400" smtClean="0">
                <a:latin typeface="Cambria" panose="02040503050406030204" pitchFamily="18" charset="0"/>
                <a:ea typeface="Cambria" panose="02040503050406030204" pitchFamily="18" charset="0"/>
              </a:rPr>
              <a:t> It contained 6 tables namely customer summary, customers, orders, payments and engagements. The merged table had 1,071,900 records.</a:t>
            </a:r>
          </a:p>
          <a:p>
            <a:endParaRPr lang="en-GB" sz="2400" smtClean="0">
              <a:latin typeface="Cambria" panose="02040503050406030204" pitchFamily="18" charset="0"/>
              <a:ea typeface="Cambria" panose="02040503050406030204" pitchFamily="18" charset="0"/>
            </a:endParaRPr>
          </a:p>
          <a:p>
            <a:r>
              <a:rPr lang="en-GB" sz="2400" smtClean="0">
                <a:latin typeface="Cambria" panose="02040503050406030204" pitchFamily="18" charset="0"/>
                <a:ea typeface="Cambria" panose="02040503050406030204" pitchFamily="18" charset="0"/>
              </a:rPr>
              <a:t>Data Extraction and Joining: Postgres was deployed for creating, importing and joining tables.</a:t>
            </a:r>
          </a:p>
          <a:p>
            <a:r>
              <a:rPr lang="en-GB" sz="2400" smtClean="0">
                <a:latin typeface="Cambria" panose="02040503050406030204" pitchFamily="18" charset="0"/>
                <a:ea typeface="Cambria" panose="02040503050406030204" pitchFamily="18" charset="0"/>
              </a:rPr>
              <a:t>Data Cleaning: Power Query was used for data cleaning</a:t>
            </a:r>
          </a:p>
          <a:p>
            <a:r>
              <a:rPr lang="en-GB" sz="2400" smtClean="0">
                <a:latin typeface="Cambria" panose="02040503050406030204" pitchFamily="18" charset="0"/>
                <a:ea typeface="Cambria" panose="02040503050406030204" pitchFamily="18" charset="0"/>
              </a:rPr>
              <a:t>Descriptive Analysis: PowerBI  was used for comprehensive data anlaysis</a:t>
            </a:r>
            <a:endParaRPr lang="en-GB" sz="2400" dirty="0">
              <a:latin typeface="Cambria" panose="02040503050406030204" pitchFamily="18" charset="0"/>
              <a:ea typeface="Cambria" panose="02040503050406030204" pitchFamily="18" charset="0"/>
            </a:endParaRPr>
          </a:p>
        </p:txBody>
      </p:sp>
      <p:sp>
        <p:nvSpPr>
          <p:cNvPr id="4" name="Rectangle 3"/>
          <p:cNvSpPr/>
          <p:nvPr/>
        </p:nvSpPr>
        <p:spPr>
          <a:xfrm>
            <a:off x="0" y="0"/>
            <a:ext cx="12010292" cy="66821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694592" y="211015"/>
            <a:ext cx="3217985" cy="369332"/>
          </a:xfrm>
          <a:prstGeom prst="rect">
            <a:avLst/>
          </a:prstGeom>
          <a:noFill/>
        </p:spPr>
        <p:txBody>
          <a:bodyPr wrap="square" rtlCol="0">
            <a:spAutoFit/>
          </a:bodyPr>
          <a:lstStyle/>
          <a:p>
            <a:r>
              <a:rPr lang="en-GB" dirty="0" smtClean="0">
                <a:solidFill>
                  <a:schemeClr val="bg1"/>
                </a:solidFill>
              </a:rPr>
              <a:t>METHODOLOGY</a:t>
            </a:r>
            <a:endParaRPr lang="en-GB" dirty="0">
              <a:solidFill>
                <a:schemeClr val="bg1"/>
              </a:solidFill>
            </a:endParaRPr>
          </a:p>
        </p:txBody>
      </p:sp>
    </p:spTree>
    <p:extLst>
      <p:ext uri="{BB962C8B-B14F-4D97-AF65-F5344CB8AC3E}">
        <p14:creationId xmlns:p14="http://schemas.microsoft.com/office/powerpoint/2010/main" val="935095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7393" y="272561"/>
            <a:ext cx="11069516" cy="646331"/>
          </a:xfrm>
          <a:prstGeom prst="rect">
            <a:avLst/>
          </a:prstGeom>
          <a:noFill/>
        </p:spPr>
        <p:txBody>
          <a:bodyPr wrap="square" rtlCol="0">
            <a:spAutoFit/>
          </a:bodyPr>
          <a:lstStyle/>
          <a:p>
            <a:r>
              <a:rPr lang="en-GB" dirty="0" smtClean="0">
                <a:solidFill>
                  <a:schemeClr val="bg1"/>
                </a:solidFill>
              </a:rPr>
              <a:t>Executive Summary</a:t>
            </a:r>
          </a:p>
          <a:p>
            <a:endParaRPr lang="en-GB" dirty="0">
              <a:solidFill>
                <a:schemeClr val="bg1"/>
              </a:solidFill>
            </a:endParaRPr>
          </a:p>
        </p:txBody>
      </p:sp>
      <p:sp>
        <p:nvSpPr>
          <p:cNvPr id="3" name="TextBox 2"/>
          <p:cNvSpPr txBox="1"/>
          <p:nvPr/>
        </p:nvSpPr>
        <p:spPr>
          <a:xfrm>
            <a:off x="1943101" y="1191453"/>
            <a:ext cx="8317522" cy="4893647"/>
          </a:xfrm>
          <a:prstGeom prst="rect">
            <a:avLst/>
          </a:prstGeom>
          <a:solidFill>
            <a:schemeClr val="bg1"/>
          </a:solidFill>
          <a:ln>
            <a:solidFill>
              <a:schemeClr val="tx1"/>
            </a:solidFill>
          </a:ln>
        </p:spPr>
        <p:txBody>
          <a:bodyPr wrap="square" rtlCol="0">
            <a:spAutoFit/>
          </a:bodyPr>
          <a:lstStyle/>
          <a:p>
            <a:pPr marL="342900" indent="-342900">
              <a:buFont typeface="+mj-lt"/>
              <a:buAutoNum type="arabicPeriod"/>
            </a:pPr>
            <a:endParaRPr lang="en-GB" sz="2400" dirty="0" smtClean="0"/>
          </a:p>
          <a:p>
            <a:pPr marL="342900" indent="-342900">
              <a:buFont typeface="+mj-lt"/>
              <a:buAutoNum type="arabicPeriod"/>
            </a:pPr>
            <a:r>
              <a:rPr lang="en-GB" sz="2400" dirty="0" smtClean="0"/>
              <a:t>There are 500,000 unique customers patronizing the fictional store from year 2019-2026.</a:t>
            </a:r>
          </a:p>
          <a:p>
            <a:pPr marL="342900" indent="-342900">
              <a:buFont typeface="+mj-lt"/>
              <a:buAutoNum type="arabicPeriod"/>
            </a:pPr>
            <a:r>
              <a:rPr lang="en-GB" sz="2400" dirty="0" smtClean="0"/>
              <a:t>The aggregate number of customer churned from 2019-2025 are 104,000.</a:t>
            </a:r>
          </a:p>
          <a:p>
            <a:pPr marL="342900" indent="-342900">
              <a:buFont typeface="+mj-lt"/>
              <a:buAutoNum type="arabicPeriod"/>
            </a:pPr>
            <a:r>
              <a:rPr lang="en-GB" sz="2400" dirty="0" smtClean="0"/>
              <a:t>The numbers of customer churned from  year 2019-2025 is within 24,3000 – 24,3000 customers. However the numbers of customer churn drastically reduced to 10,500 in 2026.</a:t>
            </a:r>
          </a:p>
          <a:p>
            <a:pPr marL="342900" indent="-342900">
              <a:buFont typeface="+mj-lt"/>
              <a:buAutoNum type="arabicPeriod"/>
            </a:pPr>
            <a:r>
              <a:rPr lang="en-GB" sz="2400" dirty="0" smtClean="0"/>
              <a:t>Customers over the age of 50 has highest number of churn, while customer between 18-25 have the lowest churn rate.</a:t>
            </a:r>
          </a:p>
          <a:p>
            <a:pPr marL="342900" indent="-342900">
              <a:buFont typeface="+mj-lt"/>
              <a:buAutoNum type="arabicPeriod"/>
            </a:pPr>
            <a:r>
              <a:rPr lang="en-GB" sz="2400" dirty="0" smtClean="0"/>
              <a:t>Customers within basic membership tier has the highest customer churn number of 57,000 while members within Platinum group has the lowest  customer churn of 5,000. </a:t>
            </a:r>
            <a:endParaRPr lang="en-GB" sz="2400" dirty="0"/>
          </a:p>
        </p:txBody>
      </p:sp>
      <p:sp>
        <p:nvSpPr>
          <p:cNvPr id="4" name="Rectangle 3"/>
          <p:cNvSpPr/>
          <p:nvPr/>
        </p:nvSpPr>
        <p:spPr>
          <a:xfrm>
            <a:off x="0" y="0"/>
            <a:ext cx="12010292" cy="66821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668215" y="149441"/>
            <a:ext cx="4132385" cy="369332"/>
          </a:xfrm>
          <a:prstGeom prst="rect">
            <a:avLst/>
          </a:prstGeom>
          <a:noFill/>
        </p:spPr>
        <p:txBody>
          <a:bodyPr wrap="square" rtlCol="0">
            <a:spAutoFit/>
          </a:bodyPr>
          <a:lstStyle/>
          <a:p>
            <a:r>
              <a:rPr lang="en-GB" dirty="0" smtClean="0">
                <a:solidFill>
                  <a:schemeClr val="bg1"/>
                </a:solidFill>
              </a:rPr>
              <a:t>RESULT ON CUSTOMER CHURN ANALYSIS</a:t>
            </a:r>
            <a:endParaRPr lang="en-GB" dirty="0">
              <a:solidFill>
                <a:schemeClr val="bg1"/>
              </a:solidFill>
            </a:endParaRPr>
          </a:p>
        </p:txBody>
      </p:sp>
    </p:spTree>
    <p:extLst>
      <p:ext uri="{BB962C8B-B14F-4D97-AF65-F5344CB8AC3E}">
        <p14:creationId xmlns:p14="http://schemas.microsoft.com/office/powerpoint/2010/main" val="106562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7393" y="272561"/>
            <a:ext cx="11069516" cy="646331"/>
          </a:xfrm>
          <a:prstGeom prst="rect">
            <a:avLst/>
          </a:prstGeom>
          <a:noFill/>
        </p:spPr>
        <p:txBody>
          <a:bodyPr wrap="square" rtlCol="0">
            <a:spAutoFit/>
          </a:bodyPr>
          <a:lstStyle/>
          <a:p>
            <a:r>
              <a:rPr lang="en-GB" dirty="0" smtClean="0">
                <a:solidFill>
                  <a:schemeClr val="bg1"/>
                </a:solidFill>
              </a:rPr>
              <a:t>Executive Summary</a:t>
            </a:r>
          </a:p>
          <a:p>
            <a:endParaRPr lang="en-GB" dirty="0">
              <a:solidFill>
                <a:schemeClr val="bg1"/>
              </a:solidFill>
            </a:endParaRPr>
          </a:p>
        </p:txBody>
      </p:sp>
      <p:sp>
        <p:nvSpPr>
          <p:cNvPr id="3" name="TextBox 2"/>
          <p:cNvSpPr txBox="1"/>
          <p:nvPr/>
        </p:nvSpPr>
        <p:spPr>
          <a:xfrm>
            <a:off x="1943101" y="1191453"/>
            <a:ext cx="7895491" cy="3416320"/>
          </a:xfrm>
          <a:prstGeom prst="rect">
            <a:avLst/>
          </a:prstGeom>
          <a:solidFill>
            <a:schemeClr val="bg1"/>
          </a:solidFill>
          <a:ln>
            <a:solidFill>
              <a:schemeClr val="tx1"/>
            </a:solidFill>
          </a:ln>
        </p:spPr>
        <p:txBody>
          <a:bodyPr wrap="square" rtlCol="0">
            <a:spAutoFit/>
          </a:bodyPr>
          <a:lstStyle/>
          <a:p>
            <a:pPr marL="342900" indent="-342900">
              <a:buFont typeface="+mj-lt"/>
              <a:buAutoNum type="arabicPeriod"/>
            </a:pPr>
            <a:endParaRPr lang="en-GB" sz="2400" dirty="0" smtClean="0"/>
          </a:p>
          <a:p>
            <a:pPr marL="342900" indent="-342900">
              <a:buFont typeface="+mj-lt"/>
              <a:buAutoNum type="arabicPeriod"/>
            </a:pPr>
            <a:r>
              <a:rPr lang="en-GB" sz="2400" dirty="0" smtClean="0"/>
              <a:t>Total revenue accrued from 2019-2026 is $50.05bilions</a:t>
            </a:r>
          </a:p>
          <a:p>
            <a:pPr marL="342900" indent="-342900">
              <a:buFont typeface="+mj-lt"/>
              <a:buAutoNum type="arabicPeriod"/>
            </a:pPr>
            <a:r>
              <a:rPr lang="en-GB" sz="2400" dirty="0" smtClean="0"/>
              <a:t>Total revenue from churned customer is $6.33 billions</a:t>
            </a:r>
          </a:p>
          <a:p>
            <a:pPr marL="342900" indent="-342900">
              <a:buFont typeface="+mj-lt"/>
              <a:buAutoNum type="arabicPeriod"/>
            </a:pPr>
            <a:r>
              <a:rPr lang="en-GB" sz="2400" dirty="0" smtClean="0"/>
              <a:t>Percentage of revenue loss is 7.91%</a:t>
            </a:r>
          </a:p>
          <a:p>
            <a:pPr marL="342900" indent="-342900">
              <a:buFont typeface="+mj-lt"/>
              <a:buAutoNum type="arabicPeriod"/>
            </a:pPr>
            <a:r>
              <a:rPr lang="en-GB" sz="2400" dirty="0" smtClean="0"/>
              <a:t>The year2025 has the highest revenue with a revenue of $6,4 billion</a:t>
            </a:r>
          </a:p>
          <a:p>
            <a:pPr marL="342900" indent="-342900">
              <a:buFont typeface="+mj-lt"/>
              <a:buAutoNum type="arabicPeriod"/>
            </a:pPr>
            <a:r>
              <a:rPr lang="en-GB" sz="2400" dirty="0" smtClean="0"/>
              <a:t>Home product category has the highest revenue with a revenue of $9,5 billion</a:t>
            </a:r>
          </a:p>
          <a:p>
            <a:pPr marL="342900" indent="-342900">
              <a:buFont typeface="+mj-lt"/>
              <a:buAutoNum type="arabicPeriod"/>
            </a:pPr>
            <a:r>
              <a:rPr lang="en-GB" sz="2400" dirty="0" smtClean="0"/>
              <a:t>Customers over the age of 50 has the highest revenue</a:t>
            </a:r>
            <a:endParaRPr lang="en-GB" sz="2400" dirty="0"/>
          </a:p>
        </p:txBody>
      </p:sp>
      <p:sp>
        <p:nvSpPr>
          <p:cNvPr id="4" name="Rectangle 3"/>
          <p:cNvSpPr/>
          <p:nvPr/>
        </p:nvSpPr>
        <p:spPr>
          <a:xfrm>
            <a:off x="0" y="0"/>
            <a:ext cx="12010292" cy="66821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668215" y="149441"/>
            <a:ext cx="4132385" cy="369332"/>
          </a:xfrm>
          <a:prstGeom prst="rect">
            <a:avLst/>
          </a:prstGeom>
          <a:noFill/>
        </p:spPr>
        <p:txBody>
          <a:bodyPr wrap="square" rtlCol="0">
            <a:spAutoFit/>
          </a:bodyPr>
          <a:lstStyle/>
          <a:p>
            <a:r>
              <a:rPr lang="en-GB" dirty="0" smtClean="0">
                <a:solidFill>
                  <a:schemeClr val="bg1"/>
                </a:solidFill>
              </a:rPr>
              <a:t>RESULT ON REVENUE ANALYSIS</a:t>
            </a:r>
            <a:endParaRPr lang="en-GB" dirty="0">
              <a:solidFill>
                <a:schemeClr val="bg1"/>
              </a:solidFill>
            </a:endParaRPr>
          </a:p>
        </p:txBody>
      </p:sp>
    </p:spTree>
    <p:extLst>
      <p:ext uri="{BB962C8B-B14F-4D97-AF65-F5344CB8AC3E}">
        <p14:creationId xmlns:p14="http://schemas.microsoft.com/office/powerpoint/2010/main" val="1449834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7393" y="272561"/>
            <a:ext cx="11069516" cy="646331"/>
          </a:xfrm>
          <a:prstGeom prst="rect">
            <a:avLst/>
          </a:prstGeom>
          <a:noFill/>
        </p:spPr>
        <p:txBody>
          <a:bodyPr wrap="square" rtlCol="0">
            <a:spAutoFit/>
          </a:bodyPr>
          <a:lstStyle/>
          <a:p>
            <a:r>
              <a:rPr lang="en-GB" dirty="0" smtClean="0">
                <a:solidFill>
                  <a:schemeClr val="bg1"/>
                </a:solidFill>
              </a:rPr>
              <a:t>Executive Summary</a:t>
            </a:r>
          </a:p>
          <a:p>
            <a:endParaRPr lang="en-GB" dirty="0">
              <a:solidFill>
                <a:schemeClr val="bg1"/>
              </a:solidFill>
            </a:endParaRPr>
          </a:p>
        </p:txBody>
      </p:sp>
      <p:sp>
        <p:nvSpPr>
          <p:cNvPr id="3" name="TextBox 2"/>
          <p:cNvSpPr txBox="1"/>
          <p:nvPr/>
        </p:nvSpPr>
        <p:spPr>
          <a:xfrm>
            <a:off x="1943101" y="1191453"/>
            <a:ext cx="7895491" cy="4893647"/>
          </a:xfrm>
          <a:prstGeom prst="rect">
            <a:avLst/>
          </a:prstGeom>
          <a:solidFill>
            <a:schemeClr val="bg1"/>
          </a:solidFill>
          <a:ln>
            <a:solidFill>
              <a:schemeClr val="tx1"/>
            </a:solidFill>
          </a:ln>
        </p:spPr>
        <p:txBody>
          <a:bodyPr wrap="square" rtlCol="0">
            <a:spAutoFit/>
          </a:bodyPr>
          <a:lstStyle/>
          <a:p>
            <a:pPr marL="342900" indent="-342900">
              <a:buFont typeface="+mj-lt"/>
              <a:buAutoNum type="arabicPeriod"/>
            </a:pPr>
            <a:r>
              <a:rPr lang="en-GB" sz="2400" dirty="0" smtClean="0"/>
              <a:t>The store should increase investment on Home product category since it has the highest revenue</a:t>
            </a:r>
          </a:p>
          <a:p>
            <a:pPr marL="342900" indent="-342900">
              <a:buFont typeface="+mj-lt"/>
              <a:buAutoNum type="arabicPeriod"/>
            </a:pPr>
            <a:r>
              <a:rPr lang="en-GB" sz="2400" dirty="0" smtClean="0"/>
              <a:t>There is a paradox in the analysis the age group with highest revenue and highest churn is customers over 50 years. The store should take pragmatic steps to attract and retain customers in the group.</a:t>
            </a:r>
          </a:p>
          <a:p>
            <a:pPr marL="342900" indent="-342900">
              <a:buFont typeface="+mj-lt"/>
              <a:buAutoNum type="arabicPeriod"/>
            </a:pPr>
            <a:r>
              <a:rPr lang="en-GB" sz="2400" dirty="0" smtClean="0"/>
              <a:t>Cart abandon rate and wish list items. Wish list items are 27 millions are high this connotes not all customers have high purchasing power. The store should invest in low-priced products.</a:t>
            </a:r>
          </a:p>
          <a:p>
            <a:pPr marL="342900" indent="-342900">
              <a:buFont typeface="+mj-lt"/>
              <a:buAutoNum type="arabicPeriod"/>
            </a:pPr>
            <a:r>
              <a:rPr lang="en-GB" sz="2400" dirty="0" smtClean="0"/>
              <a:t>Total payment failure time was 3 millions. The store should improve its network capacity and improve payment methods. </a:t>
            </a:r>
            <a:endParaRPr lang="en-GB" sz="2400" dirty="0" smtClean="0"/>
          </a:p>
        </p:txBody>
      </p:sp>
      <p:sp>
        <p:nvSpPr>
          <p:cNvPr id="4" name="Rectangle 3"/>
          <p:cNvSpPr/>
          <p:nvPr/>
        </p:nvSpPr>
        <p:spPr>
          <a:xfrm>
            <a:off x="0" y="0"/>
            <a:ext cx="12010292" cy="66821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668215" y="149441"/>
            <a:ext cx="4132385" cy="369332"/>
          </a:xfrm>
          <a:prstGeom prst="rect">
            <a:avLst/>
          </a:prstGeom>
          <a:noFill/>
        </p:spPr>
        <p:txBody>
          <a:bodyPr wrap="square" rtlCol="0">
            <a:spAutoFit/>
          </a:bodyPr>
          <a:lstStyle/>
          <a:p>
            <a:r>
              <a:rPr lang="en-GB" dirty="0" smtClean="0">
                <a:solidFill>
                  <a:schemeClr val="bg1"/>
                </a:solidFill>
              </a:rPr>
              <a:t>RECOMMENDATION</a:t>
            </a:r>
            <a:endParaRPr lang="en-GB" dirty="0">
              <a:solidFill>
                <a:schemeClr val="bg1"/>
              </a:solidFill>
            </a:endParaRPr>
          </a:p>
        </p:txBody>
      </p:sp>
    </p:spTree>
    <p:extLst>
      <p:ext uri="{BB962C8B-B14F-4D97-AF65-F5344CB8AC3E}">
        <p14:creationId xmlns:p14="http://schemas.microsoft.com/office/powerpoint/2010/main" val="3483776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546" y="0"/>
            <a:ext cx="12253546" cy="6612367"/>
          </a:xfrm>
          <a:prstGeom prst="rect">
            <a:avLst/>
          </a:prstGeom>
        </p:spPr>
      </p:pic>
      <p:sp>
        <p:nvSpPr>
          <p:cNvPr id="3" name="TextBox 2"/>
          <p:cNvSpPr txBox="1"/>
          <p:nvPr/>
        </p:nvSpPr>
        <p:spPr>
          <a:xfrm>
            <a:off x="6770077" y="2110154"/>
            <a:ext cx="5310554" cy="646331"/>
          </a:xfrm>
          <a:prstGeom prst="rect">
            <a:avLst/>
          </a:prstGeom>
          <a:noFill/>
        </p:spPr>
        <p:txBody>
          <a:bodyPr wrap="square" rtlCol="0">
            <a:spAutoFit/>
          </a:bodyPr>
          <a:lstStyle/>
          <a:p>
            <a:r>
              <a:rPr lang="en-GB" sz="3600" dirty="0" smtClean="0">
                <a:solidFill>
                  <a:schemeClr val="bg1"/>
                </a:solidFill>
              </a:rPr>
              <a:t>THANKS FOR YOUR TIME</a:t>
            </a:r>
            <a:endParaRPr lang="en-GB" sz="3600" dirty="0">
              <a:solidFill>
                <a:schemeClr val="bg1"/>
              </a:solidFill>
            </a:endParaRPr>
          </a:p>
        </p:txBody>
      </p:sp>
    </p:spTree>
    <p:extLst>
      <p:ext uri="{BB962C8B-B14F-4D97-AF65-F5344CB8AC3E}">
        <p14:creationId xmlns:p14="http://schemas.microsoft.com/office/powerpoint/2010/main" val="20022981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229</TotalTime>
  <Words>412</Words>
  <Application>Microsoft Office PowerPoint</Application>
  <PresentationFormat>Widescreen</PresentationFormat>
  <Paragraphs>39</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BMT NETWORKS</dc:creator>
  <cp:lastModifiedBy>BMT NETWORKS</cp:lastModifiedBy>
  <cp:revision>11</cp:revision>
  <dcterms:created xsi:type="dcterms:W3CDTF">2026-10-02T12:32:54Z</dcterms:created>
  <dcterms:modified xsi:type="dcterms:W3CDTF">2026-10-02T16:22:02Z</dcterms:modified>
</cp:coreProperties>
</file>